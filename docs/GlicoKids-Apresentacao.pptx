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B8CFF"/>
                </a:solidFill>
                <a:latin typeface="Calibri"/>
              </a:rPr>
              <a:t>APRESENTAÇÃO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65176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4F6FB"/>
                </a:solidFill>
                <a:latin typeface="Calibri"/>
              </a:rPr>
              <a:t>GlicoKids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AEB9D1"/>
                </a:solidFill>
                <a:latin typeface="Calibri"/>
              </a:rPr>
              <a:t>O cálculo diário do Diabetes Tipo 1 infantil, transformado em uma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AEB9D1"/>
                </a:solidFill>
                <a:latin typeface="Calibri"/>
              </a:rPr>
              <a:t>missão de RPG que a criança quer cumprir.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92040"/>
            <a:ext cx="640080" cy="31750"/>
          </a:xfrm>
          <a:prstGeom prst="rect">
            <a:avLst/>
          </a:prstGeom>
          <a:solidFill>
            <a:srgbClr val="F2B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4F6FB"/>
                </a:solidFill>
                <a:latin typeface="Calibri"/>
              </a:rPr>
              <a:t>Luiz Augusto Melo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825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EB9D1"/>
                </a:solidFill>
                <a:latin typeface="Calibri"/>
              </a:rPr>
              <a:t>Protótipo Android nativo — Kotlin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CFF"/>
                </a:solidFill>
                <a:latin typeface="Calibri"/>
              </a:rPr>
              <a:t>O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4F6FB"/>
                </a:solidFill>
                <a:latin typeface="Calibri"/>
              </a:rPr>
              <a:t>Uma rotina clínica que a criança não escolheu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381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1264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50" b="1">
                <a:solidFill>
                  <a:srgbClr val="5B8CFF"/>
                </a:solidFill>
                <a:latin typeface="Calibri"/>
              </a:rPr>
              <a:t>•  </a:t>
            </a:r>
            <a:r>
              <a:rPr sz="1650" b="1">
                <a:solidFill>
                  <a:srgbClr val="F4F6FB"/>
                </a:solidFill>
                <a:latin typeface="Calibri"/>
              </a:rPr>
              <a:t>Cálculo a cada refeição. </a:t>
            </a:r>
            <a:r>
              <a:rPr sz="1650">
                <a:solidFill>
                  <a:srgbClr val="F4F6FB"/>
                </a:solidFill>
                <a:latin typeface="Calibri"/>
              </a:rPr>
              <a:t>Diabetes Tipo 1 na infância exige contar carboidratos e calcular a dose de insulina antes de cada refeição.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50" b="1">
                <a:solidFill>
                  <a:srgbClr val="5B8CFF"/>
                </a:solidFill>
                <a:latin typeface="Calibri"/>
              </a:rPr>
              <a:t>•  </a:t>
            </a:r>
            <a:r>
              <a:rPr sz="1650" b="1">
                <a:solidFill>
                  <a:srgbClr val="F4F6FB"/>
                </a:solidFill>
                <a:latin typeface="Calibri"/>
              </a:rPr>
              <a:t>O erro tem consequência séria. </a:t>
            </a:r>
            <a:r>
              <a:rPr sz="1650">
                <a:solidFill>
                  <a:srgbClr val="F4F6FB"/>
                </a:solidFill>
                <a:latin typeface="Calibri"/>
              </a:rPr>
              <a:t>Uma conta errada leva a hipoglicemia ou hiperglicemia graves — não é um detalhe, é risco real.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50" b="1">
                <a:solidFill>
                  <a:srgbClr val="5B8CFF"/>
                </a:solidFill>
                <a:latin typeface="Calibri"/>
              </a:rPr>
              <a:t>•  </a:t>
            </a:r>
            <a:r>
              <a:rPr sz="1650" b="1">
                <a:solidFill>
                  <a:srgbClr val="F4F6FB"/>
                </a:solidFill>
                <a:latin typeface="Calibri"/>
              </a:rPr>
              <a:t>O peso recai sobre os pais. </a:t>
            </a:r>
            <a:r>
              <a:rPr sz="1650">
                <a:solidFill>
                  <a:srgbClr val="F4F6FB"/>
                </a:solidFill>
                <a:latin typeface="Calibri"/>
              </a:rPr>
              <a:t>São eles que sustentam essa carga mental, presentes em toda refeição, todos os dias.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50" b="1">
                <a:solidFill>
                  <a:srgbClr val="5B8CFF"/>
                </a:solidFill>
                <a:latin typeface="Calibri"/>
              </a:rPr>
              <a:t>•  </a:t>
            </a:r>
            <a:r>
              <a:rPr sz="1650" b="1">
                <a:solidFill>
                  <a:srgbClr val="F4F6FB"/>
                </a:solidFill>
                <a:latin typeface="Calibri"/>
              </a:rPr>
              <a:t>A criança resiste ao tratamento. </a:t>
            </a:r>
            <a:r>
              <a:rPr sz="1650">
                <a:solidFill>
                  <a:srgbClr val="F4F6FB"/>
                </a:solidFill>
                <a:latin typeface="Calibri"/>
              </a:rPr>
              <a:t>Ela vive uma rotina de disciplina clínica que não escolheu — e isso afeta a adesão.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874519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21488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B83C"/>
                </a:solidFill>
                <a:latin typeface="Calibri"/>
              </a:rPr>
              <a:t>O CUSTO INVISÍVEL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560320"/>
            <a:ext cx="3566160" cy="177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 dirty="0" err="1">
                <a:solidFill>
                  <a:srgbClr val="F4F6FB"/>
                </a:solidFill>
                <a:latin typeface="Calibri"/>
              </a:rPr>
              <a:t>Não</a:t>
            </a:r>
            <a:r>
              <a:rPr sz="1500" b="0" i="0" dirty="0">
                <a:solidFill>
                  <a:srgbClr val="F4F6FB"/>
                </a:solidFill>
                <a:latin typeface="Calibri"/>
              </a:rPr>
              <a:t> é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só</a:t>
            </a:r>
            <a:r>
              <a:rPr sz="1500" b="0" i="0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matemática</a:t>
            </a:r>
            <a:r>
              <a:rPr sz="1500" b="0" i="0" dirty="0">
                <a:solidFill>
                  <a:srgbClr val="F4F6FB"/>
                </a:solidFill>
                <a:latin typeface="Calibri"/>
              </a:rPr>
              <a:t>.</a:t>
            </a:r>
          </a:p>
          <a:p>
            <a:pPr algn="l">
              <a:lnSpc>
                <a:spcPct val="130000"/>
              </a:lnSpc>
            </a:pPr>
            <a:endParaRPr sz="1500" b="0" i="0" dirty="0">
              <a:solidFill>
                <a:srgbClr val="F4F6FB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500" b="0" i="0" dirty="0">
                <a:solidFill>
                  <a:srgbClr val="F4F6FB"/>
                </a:solidFill>
                <a:latin typeface="Calibri"/>
              </a:rPr>
              <a:t>É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vigilância</a:t>
            </a:r>
            <a:r>
              <a:rPr sz="1500" b="0" i="0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constante</a:t>
            </a:r>
            <a:r>
              <a:rPr sz="1500" b="0" i="0" dirty="0">
                <a:solidFill>
                  <a:srgbClr val="F4F6FB"/>
                </a:solidFill>
                <a:latin typeface="Calibri"/>
              </a:rPr>
              <a:t>, é a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criança</a:t>
            </a:r>
            <a:r>
              <a:rPr sz="1500" b="0" i="0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encarando</a:t>
            </a:r>
            <a:r>
              <a:rPr sz="1500" b="0" i="0" dirty="0">
                <a:solidFill>
                  <a:srgbClr val="F4F6FB"/>
                </a:solidFill>
                <a:latin typeface="Calibri"/>
              </a:rPr>
              <a:t> a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doença</a:t>
            </a:r>
            <a:r>
              <a:rPr lang="pt-BR" sz="1500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como</a:t>
            </a:r>
            <a:r>
              <a:rPr sz="1500" b="0" i="0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obrigação</a:t>
            </a:r>
            <a:r>
              <a:rPr sz="1500" b="0" i="0" dirty="0">
                <a:solidFill>
                  <a:srgbClr val="F4F6FB"/>
                </a:solidFill>
                <a:latin typeface="Calibri"/>
              </a:rPr>
              <a:t>, e é a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família</a:t>
            </a:r>
            <a:r>
              <a:rPr sz="1500" b="0" i="0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tentando</a:t>
            </a:r>
            <a:r>
              <a:rPr sz="1500" b="0" i="0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equilibrar</a:t>
            </a:r>
            <a:r>
              <a:rPr lang="pt-BR" sz="1500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segurança</a:t>
            </a:r>
            <a:r>
              <a:rPr sz="1500" b="0" i="0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clínica</a:t>
            </a:r>
            <a:r>
              <a:rPr sz="1500" b="0" i="0" dirty="0">
                <a:solidFill>
                  <a:srgbClr val="F4F6FB"/>
                </a:solidFill>
                <a:latin typeface="Calibri"/>
              </a:rPr>
              <a:t> com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uma</a:t>
            </a:r>
            <a:r>
              <a:rPr sz="1500" b="0" i="0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4F6FB"/>
                </a:solidFill>
                <a:latin typeface="Calibri"/>
              </a:rPr>
              <a:t>infância</a:t>
            </a:r>
            <a:r>
              <a:rPr sz="1500" b="0" i="0" dirty="0">
                <a:solidFill>
                  <a:srgbClr val="F4F6FB"/>
                </a:solidFill>
                <a:latin typeface="Calibri"/>
              </a:rPr>
              <a:t> normal.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GlicoKids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CFF"/>
                </a:solidFill>
                <a:latin typeface="Calibri"/>
              </a:rP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4F6FB"/>
                </a:solidFill>
                <a:latin typeface="Calibri"/>
              </a:rPr>
              <a:t>A rotina clínica vira jornada de herói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381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AEB9D1"/>
                </a:solidFill>
                <a:latin typeface="Calibri"/>
              </a:rPr>
              <a:t>O GlicoKids transforma o cálculo clínico em uma missão de RPG ambientada numa Estação Espacial —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AEB9D1"/>
                </a:solidFill>
                <a:latin typeface="Calibri"/>
              </a:rPr>
              <a:t>sem abrir mão do rigor por trás da tela.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" y="3035808"/>
            <a:ext cx="457200" cy="45720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0B1222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639312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4F6FB"/>
                </a:solidFill>
                <a:latin typeface="Calibri"/>
              </a:rPr>
              <a:t>Fotografa o prato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023360"/>
            <a:ext cx="298094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EB9D1"/>
                </a:solidFill>
                <a:latin typeface="Calibri"/>
              </a:rPr>
              <a:t>A criança registra a refeição como uma “Missão da Refeição”.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83464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498848" y="3035808"/>
            <a:ext cx="457200" cy="45720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0B1222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639312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4F6FB"/>
                </a:solidFill>
                <a:latin typeface="Calibri"/>
              </a:rPr>
              <a:t>Calcula o Bolus do Herói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4023360"/>
            <a:ext cx="298094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EB9D1"/>
                </a:solidFill>
                <a:latin typeface="Calibri"/>
              </a:rPr>
              <a:t>O app converte carboidrato e glicemia na dose certa de insulina.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83464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56448" y="3035808"/>
            <a:ext cx="457200" cy="45720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0B1222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3639312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4F6FB"/>
                </a:solidFill>
                <a:latin typeface="Calibri"/>
              </a:rPr>
              <a:t>Vira conquista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4023360"/>
            <a:ext cx="298094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EB9D1"/>
                </a:solidFill>
                <a:latin typeface="Calibri"/>
              </a:rPr>
              <a:t>Acertar a missão rende XP, moedas e medalhas — não é obrigação, é jogo.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5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AEB9D1"/>
                </a:solidFill>
                <a:latin typeface="Calibri"/>
              </a:rPr>
              <a:t>Por trás da fantasia, os pais mantêm o controle clínico real: são eles quem define os parâmetros que alimentam o cálculo.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GlicoKids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CFF"/>
                </a:solidFill>
                <a:latin typeface="Calibri"/>
              </a:rP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4F6FB"/>
                </a:solidFill>
                <a:latin typeface="Calibri"/>
              </a:rPr>
              <a:t>O fluxo da criança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381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542032" cy="251460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2167128"/>
            <a:ext cx="457200" cy="45720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0B12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70632"/>
            <a:ext cx="2139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4F6FB"/>
                </a:solidFill>
                <a:latin typeface="Calibri"/>
              </a:rPr>
              <a:t>Fotografa a refeição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154680"/>
            <a:ext cx="213969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EB9D1"/>
                </a:solidFill>
                <a:latin typeface="Calibri"/>
              </a:rPr>
              <a:t>A “Missão da Refeição” começa com a foto do prato pela câmera do aparelho.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965960"/>
            <a:ext cx="2542032" cy="251460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84448" y="2167128"/>
            <a:ext cx="457200" cy="45720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0B12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770632"/>
            <a:ext cx="2139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4F6FB"/>
                </a:solidFill>
                <a:latin typeface="Calibri"/>
              </a:rPr>
              <a:t>Informa a glicemia atual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154680"/>
            <a:ext cx="213969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EB9D1"/>
                </a:solidFill>
                <a:latin typeface="Calibri"/>
              </a:rPr>
              <a:t>A criança registra o valor medido — manual ou de sensor.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965960"/>
            <a:ext cx="2542032" cy="251460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27648" y="2167128"/>
            <a:ext cx="457200" cy="45720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0B12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770632"/>
            <a:ext cx="2139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4F6FB"/>
                </a:solidFill>
                <a:latin typeface="Calibri"/>
              </a:rPr>
              <a:t>O app calcula a dose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154680"/>
            <a:ext cx="213969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EB9D1"/>
                </a:solidFill>
                <a:latin typeface="Calibri"/>
              </a:rPr>
              <a:t>O “Bolus do Herói” usa a fórmula clínica configurada pelos pais, arredondada para baixo por segurança.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965960"/>
            <a:ext cx="2542032" cy="251460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070848" y="2167128"/>
            <a:ext cx="457200" cy="45720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0B12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770632"/>
            <a:ext cx="2139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4F6FB"/>
                </a:solidFill>
                <a:latin typeface="Calibri"/>
              </a:rPr>
              <a:t>A conquista chega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3154680"/>
            <a:ext cx="2139696" cy="59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 dirty="0">
                <a:solidFill>
                  <a:srgbClr val="AEB9D1"/>
                </a:solidFill>
                <a:latin typeface="Calibri"/>
              </a:rPr>
              <a:t>XP, </a:t>
            </a:r>
            <a:r>
              <a:rPr sz="1150" b="0" i="0" dirty="0" err="1">
                <a:solidFill>
                  <a:srgbClr val="AEB9D1"/>
                </a:solidFill>
                <a:latin typeface="Calibri"/>
              </a:rPr>
              <a:t>moedas</a:t>
            </a:r>
            <a:r>
              <a:rPr sz="1150" b="0" i="0" dirty="0">
                <a:solidFill>
                  <a:srgbClr val="AEB9D1"/>
                </a:solidFill>
                <a:latin typeface="Calibri"/>
              </a:rPr>
              <a:t> e </a:t>
            </a:r>
            <a:r>
              <a:rPr sz="1150" b="0" i="0" dirty="0" err="1">
                <a:solidFill>
                  <a:srgbClr val="AEB9D1"/>
                </a:solidFill>
                <a:latin typeface="Calibri"/>
              </a:rPr>
              <a:t>medalhas</a:t>
            </a:r>
            <a:r>
              <a:rPr lang="pt-BR" sz="1150" dirty="0">
                <a:solidFill>
                  <a:srgbClr val="AEB9D1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AEB9D1"/>
                </a:solidFill>
                <a:latin typeface="Calibri"/>
              </a:rPr>
              <a:t>recompensam</a:t>
            </a:r>
            <a:r>
              <a:rPr sz="1150" b="0" i="0" dirty="0">
                <a:solidFill>
                  <a:srgbClr val="AEB9D1"/>
                </a:solidFill>
                <a:latin typeface="Calibri"/>
              </a:rPr>
              <a:t> o </a:t>
            </a:r>
            <a:r>
              <a:rPr sz="1150" b="0" i="0" dirty="0" err="1">
                <a:solidFill>
                  <a:srgbClr val="AEB9D1"/>
                </a:solidFill>
                <a:latin typeface="Calibri"/>
              </a:rPr>
              <a:t>acerto</a:t>
            </a:r>
            <a:r>
              <a:rPr sz="1150" b="0" i="0" dirty="0">
                <a:solidFill>
                  <a:srgbClr val="AEB9D1"/>
                </a:solidFill>
                <a:latin typeface="Calibri"/>
              </a:rPr>
              <a:t>, e o avatar </a:t>
            </a:r>
            <a:r>
              <a:rPr sz="1150" b="0" i="0" dirty="0" err="1">
                <a:solidFill>
                  <a:srgbClr val="AEB9D1"/>
                </a:solidFill>
                <a:latin typeface="Calibri"/>
              </a:rPr>
              <a:t>evolui</a:t>
            </a:r>
            <a:r>
              <a:rPr sz="1150" b="0" i="0" dirty="0">
                <a:solidFill>
                  <a:srgbClr val="AEB9D1"/>
                </a:solidFill>
                <a:latin typeface="Calibri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92040"/>
            <a:ext cx="10881360" cy="57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 dirty="0">
                <a:solidFill>
                  <a:srgbClr val="AEB9D1"/>
                </a:solidFill>
                <a:latin typeface="Calibri"/>
              </a:rPr>
              <a:t>O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ciclo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se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fecha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em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minutos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: a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criança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faz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sozinha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o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que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antes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exigia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um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adulto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fazendo</a:t>
            </a:r>
            <a:r>
              <a:rPr lang="pt-BR" sz="1500" dirty="0">
                <a:solidFill>
                  <a:srgbClr val="AEB9D1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conta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ao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lado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dela — e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sai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da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experiência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com a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sensação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de ter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cumprido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uma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AEB9D1"/>
                </a:solidFill>
                <a:latin typeface="Calibri"/>
              </a:rPr>
              <a:t>missão</a:t>
            </a:r>
            <a:r>
              <a:rPr sz="1500" b="0" i="0" dirty="0">
                <a:solidFill>
                  <a:srgbClr val="AEB9D1"/>
                </a:solidFill>
                <a:latin typeface="Calibri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GlicoKids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CFF"/>
                </a:solidFill>
                <a:latin typeface="Calibri"/>
              </a:rPr>
              <a:t>CONTROLE CLÍNICO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4F6FB"/>
                </a:solidFill>
                <a:latin typeface="Calibri"/>
              </a:rPr>
              <a:t>A área dos pais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381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AEB9D1"/>
                </a:solidFill>
                <a:latin typeface="Calibri"/>
              </a:rPr>
              <a:t>Protegida por PIN próprio, separada do universo lúdico da criança.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61264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5B8CFF"/>
                </a:solidFill>
                <a:latin typeface="Calibri"/>
              </a:rPr>
              <a:t>•  </a:t>
            </a:r>
            <a:r>
              <a:rPr sz="1600" b="1">
                <a:solidFill>
                  <a:srgbClr val="F4F6FB"/>
                </a:solidFill>
                <a:latin typeface="Calibri"/>
              </a:rPr>
              <a:t>Parâmetros clínicos reais. </a:t>
            </a:r>
            <a:r>
              <a:rPr sz="1600">
                <a:solidFill>
                  <a:srgbClr val="F4F6FB"/>
                </a:solidFill>
                <a:latin typeface="Calibri"/>
              </a:rPr>
              <a:t>Fator de sensibilidade à insulina, relação insulina/carboidrato e faixa alvo de glicemia — configurados pelos pais, não fixos no aplicativo.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5B8CFF"/>
                </a:solidFill>
                <a:latin typeface="Calibri"/>
              </a:rPr>
              <a:t>•  </a:t>
            </a:r>
            <a:r>
              <a:rPr sz="1600" b="1">
                <a:solidFill>
                  <a:srgbClr val="F4F6FB"/>
                </a:solidFill>
                <a:latin typeface="Calibri"/>
              </a:rPr>
              <a:t>Histórico acompanhável. </a:t>
            </a:r>
            <a:r>
              <a:rPr sz="1600">
                <a:solidFill>
                  <a:srgbClr val="F4F6FB"/>
                </a:solidFill>
                <a:latin typeface="Calibri"/>
              </a:rPr>
              <a:t>Glicemia e refeições registradas ficam disponíveis para consulta a qualquer momento.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5B8CFF"/>
                </a:solidFill>
                <a:latin typeface="Calibri"/>
              </a:rPr>
              <a:t>•  </a:t>
            </a:r>
            <a:r>
              <a:rPr sz="1600" b="1">
                <a:solidFill>
                  <a:srgbClr val="F4F6FB"/>
                </a:solidFill>
                <a:latin typeface="Calibri"/>
              </a:rPr>
              <a:t>Edição sempre validada. </a:t>
            </a:r>
            <a:r>
              <a:rPr sz="1600">
                <a:solidFill>
                  <a:srgbClr val="F4F6FB"/>
                </a:solidFill>
                <a:latin typeface="Calibri"/>
              </a:rPr>
              <a:t>Nenhum parâmetro clínico é editado “no improviso” — toda alteração passa por confirmação.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606040"/>
            <a:ext cx="4206240" cy="3474720"/>
          </a:xfrm>
          <a:prstGeom prst="roundRect">
            <a:avLst>
              <a:gd name="adj" fmla="val 8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28803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B83C"/>
                </a:solidFill>
                <a:latin typeface="Calibri"/>
              </a:rPr>
              <a:t>POR QUE ISSO IMPORTA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291840"/>
            <a:ext cx="3566160" cy="1426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 dirty="0">
                <a:solidFill>
                  <a:srgbClr val="F4F6FB"/>
                </a:solidFill>
                <a:latin typeface="Calibri"/>
              </a:rPr>
              <a:t>Mudar um </a:t>
            </a:r>
            <a:r>
              <a:rPr sz="1450" b="0" i="0" dirty="0" err="1">
                <a:solidFill>
                  <a:srgbClr val="F4F6FB"/>
                </a:solidFill>
                <a:latin typeface="Calibri"/>
              </a:rPr>
              <a:t>parâmetro</a:t>
            </a:r>
            <a:r>
              <a:rPr sz="1450" b="0" i="0" dirty="0">
                <a:solidFill>
                  <a:srgbClr val="F4F6FB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4F6FB"/>
                </a:solidFill>
                <a:latin typeface="Calibri"/>
              </a:rPr>
              <a:t>na</a:t>
            </a:r>
            <a:r>
              <a:rPr sz="1450" b="0" i="0" dirty="0">
                <a:solidFill>
                  <a:srgbClr val="F4F6FB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4F6FB"/>
                </a:solidFill>
                <a:latin typeface="Calibri"/>
              </a:rPr>
              <a:t>área</a:t>
            </a:r>
            <a:r>
              <a:rPr sz="1450" b="0" i="0" dirty="0">
                <a:solidFill>
                  <a:srgbClr val="F4F6FB"/>
                </a:solidFill>
                <a:latin typeface="Calibri"/>
              </a:rPr>
              <a:t> dos </a:t>
            </a:r>
            <a:r>
              <a:rPr sz="1450" b="0" i="0" dirty="0" err="1">
                <a:solidFill>
                  <a:srgbClr val="F4F6FB"/>
                </a:solidFill>
                <a:latin typeface="Calibri"/>
              </a:rPr>
              <a:t>pais</a:t>
            </a:r>
            <a:r>
              <a:rPr lang="pt-BR" sz="1450" dirty="0">
                <a:solidFill>
                  <a:srgbClr val="F4F6FB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4F6FB"/>
                </a:solidFill>
                <a:latin typeface="Calibri"/>
              </a:rPr>
              <a:t>muda</a:t>
            </a:r>
            <a:r>
              <a:rPr sz="1450" b="0" i="0" dirty="0">
                <a:solidFill>
                  <a:srgbClr val="F4F6FB"/>
                </a:solidFill>
                <a:latin typeface="Calibri"/>
              </a:rPr>
              <a:t> a dose </a:t>
            </a:r>
            <a:r>
              <a:rPr sz="1450" b="0" i="0" dirty="0" err="1">
                <a:solidFill>
                  <a:srgbClr val="F4F6FB"/>
                </a:solidFill>
                <a:latin typeface="Calibri"/>
              </a:rPr>
              <a:t>calculada</a:t>
            </a:r>
            <a:r>
              <a:rPr sz="1450" b="0" i="0" dirty="0">
                <a:solidFill>
                  <a:srgbClr val="F4F6FB"/>
                </a:solidFill>
                <a:latin typeface="Calibri"/>
              </a:rPr>
              <a:t> de </a:t>
            </a:r>
            <a:r>
              <a:rPr sz="1450" b="0" i="0" dirty="0" err="1">
                <a:solidFill>
                  <a:srgbClr val="F4F6FB"/>
                </a:solidFill>
                <a:latin typeface="Calibri"/>
              </a:rPr>
              <a:t>verdade</a:t>
            </a:r>
            <a:r>
              <a:rPr sz="1450" b="0" i="0" dirty="0">
                <a:solidFill>
                  <a:srgbClr val="F4F6FB"/>
                </a:solidFill>
                <a:latin typeface="Calibri"/>
              </a:rPr>
              <a:t>.</a:t>
            </a:r>
          </a:p>
          <a:p>
            <a:pPr algn="l">
              <a:lnSpc>
                <a:spcPct val="130000"/>
              </a:lnSpc>
            </a:pPr>
            <a:endParaRPr sz="1450" b="0" i="0" dirty="0">
              <a:solidFill>
                <a:srgbClr val="F4F6FB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450" b="0" i="0" dirty="0">
                <a:solidFill>
                  <a:srgbClr val="F4F6FB"/>
                </a:solidFill>
                <a:latin typeface="Calibri"/>
              </a:rPr>
              <a:t>É o </a:t>
            </a:r>
            <a:r>
              <a:rPr sz="1450" b="0" i="0" dirty="0" err="1">
                <a:solidFill>
                  <a:srgbClr val="F4F6FB"/>
                </a:solidFill>
                <a:latin typeface="Calibri"/>
              </a:rPr>
              <a:t>mesmo</a:t>
            </a:r>
            <a:r>
              <a:rPr sz="1450" b="0" i="0" dirty="0">
                <a:solidFill>
                  <a:srgbClr val="F4F6FB"/>
                </a:solidFill>
                <a:latin typeface="Calibri"/>
              </a:rPr>
              <a:t> motor </a:t>
            </a:r>
            <a:r>
              <a:rPr sz="1450" b="0" i="0" dirty="0" err="1">
                <a:solidFill>
                  <a:srgbClr val="F4F6FB"/>
                </a:solidFill>
                <a:latin typeface="Calibri"/>
              </a:rPr>
              <a:t>clínico</a:t>
            </a:r>
            <a:r>
              <a:rPr sz="1450" b="0" i="0" dirty="0">
                <a:solidFill>
                  <a:srgbClr val="F4F6FB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4F6FB"/>
                </a:solidFill>
                <a:latin typeface="Calibri"/>
              </a:rPr>
              <a:t>por</a:t>
            </a:r>
            <a:r>
              <a:rPr sz="1450" b="0" i="0" dirty="0">
                <a:solidFill>
                  <a:srgbClr val="F4F6FB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F4F6FB"/>
                </a:solidFill>
                <a:latin typeface="Calibri"/>
              </a:rPr>
              <a:t>trás</a:t>
            </a:r>
            <a:r>
              <a:rPr lang="pt-BR" sz="1450" dirty="0">
                <a:solidFill>
                  <a:srgbClr val="F4F6FB"/>
                </a:solidFill>
                <a:latin typeface="Calibri"/>
              </a:rPr>
              <a:t> </a:t>
            </a:r>
            <a:r>
              <a:rPr sz="1450" b="0" i="0" dirty="0">
                <a:solidFill>
                  <a:srgbClr val="F4F6FB"/>
                </a:solidFill>
                <a:latin typeface="Calibri"/>
              </a:rPr>
              <a:t>da </a:t>
            </a:r>
            <a:r>
              <a:rPr sz="1450" b="0" i="0" dirty="0" err="1">
                <a:solidFill>
                  <a:srgbClr val="F4F6FB"/>
                </a:solidFill>
                <a:latin typeface="Calibri"/>
              </a:rPr>
              <a:t>experiência</a:t>
            </a:r>
            <a:r>
              <a:rPr sz="1450" b="0" i="0" dirty="0">
                <a:solidFill>
                  <a:srgbClr val="F4F6FB"/>
                </a:solidFill>
                <a:latin typeface="Calibri"/>
              </a:rPr>
              <a:t> de </a:t>
            </a:r>
            <a:r>
              <a:rPr sz="1450" b="0" i="0" dirty="0" err="1">
                <a:solidFill>
                  <a:srgbClr val="F4F6FB"/>
                </a:solidFill>
                <a:latin typeface="Calibri"/>
              </a:rPr>
              <a:t>jogo</a:t>
            </a:r>
            <a:r>
              <a:rPr sz="1450" b="0" i="0" dirty="0">
                <a:solidFill>
                  <a:srgbClr val="F4F6FB"/>
                </a:solidFill>
                <a:latin typeface="Calibri"/>
              </a:rPr>
              <a:t> da </a:t>
            </a:r>
            <a:r>
              <a:rPr sz="1450" b="0" i="0" dirty="0" err="1">
                <a:solidFill>
                  <a:srgbClr val="F4F6FB"/>
                </a:solidFill>
                <a:latin typeface="Calibri"/>
              </a:rPr>
              <a:t>criança</a:t>
            </a:r>
            <a:r>
              <a:rPr sz="1450" b="0" i="0" dirty="0">
                <a:solidFill>
                  <a:srgbClr val="F4F6FB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GlicoKids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CFF"/>
                </a:solidFill>
                <a:latin typeface="Calibri"/>
              </a:rPr>
              <a:t>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4F6FB"/>
                </a:solidFill>
                <a:latin typeface="Calibri"/>
              </a:rPr>
              <a:t>Segurança em primeiro lugar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381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1264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5B8CFF"/>
                </a:solidFill>
                <a:latin typeface="Calibri"/>
              </a:rPr>
              <a:t>•  </a:t>
            </a:r>
            <a:r>
              <a:rPr sz="1550" b="1">
                <a:solidFill>
                  <a:srgbClr val="F4F6FB"/>
                </a:solidFill>
                <a:latin typeface="Calibri"/>
              </a:rPr>
              <a:t>Dose sempre conservadora. </a:t>
            </a:r>
            <a:r>
              <a:rPr sz="1550">
                <a:solidFill>
                  <a:srgbClr val="F4F6FB"/>
                </a:solidFill>
                <a:latin typeface="Calibri"/>
              </a:rPr>
              <a:t>O arredondamento da insulina calculada é sempre para baixo, nunca para cima.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5B8CFF"/>
                </a:solidFill>
                <a:latin typeface="Calibri"/>
              </a:rPr>
              <a:t>•  </a:t>
            </a:r>
            <a:r>
              <a:rPr sz="1550" b="1">
                <a:solidFill>
                  <a:srgbClr val="F4F6FB"/>
                </a:solidFill>
                <a:latin typeface="Calibri"/>
              </a:rPr>
              <a:t>Alerta de dose elevada. </a:t>
            </a:r>
            <a:r>
              <a:rPr sz="1550">
                <a:solidFill>
                  <a:srgbClr val="F4F6FB"/>
                </a:solidFill>
                <a:latin typeface="Calibri"/>
              </a:rPr>
              <a:t>Doses acima de 5 unidades disparam um aviso de segurança adicional.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5B8CFF"/>
                </a:solidFill>
                <a:latin typeface="Calibri"/>
              </a:rPr>
              <a:t>•  </a:t>
            </a:r>
            <a:r>
              <a:rPr sz="1550" b="1">
                <a:solidFill>
                  <a:srgbClr val="F4F6FB"/>
                </a:solidFill>
                <a:latin typeface="Calibri"/>
              </a:rPr>
              <a:t>Rede de apoio avisada automaticamente. </a:t>
            </a:r>
            <a:r>
              <a:rPr sz="1550">
                <a:solidFill>
                  <a:srgbClr val="F4F6FB"/>
                </a:solidFill>
                <a:latin typeface="Calibri"/>
              </a:rPr>
              <a:t>Quando a glicemia sai da faixa, os contatos de apoio recebem um SMS automático — sem depender da criança lembrar de avisar.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 b="1">
                <a:solidFill>
                  <a:srgbClr val="5B8CFF"/>
                </a:solidFill>
                <a:latin typeface="Calibri"/>
              </a:rPr>
              <a:t>•  </a:t>
            </a:r>
            <a:r>
              <a:rPr sz="1550" b="1">
                <a:solidFill>
                  <a:srgbClr val="F4F6FB"/>
                </a:solidFill>
                <a:latin typeface="Calibri"/>
              </a:rPr>
              <a:t>Localização aproximada no alerta. </a:t>
            </a:r>
            <a:r>
              <a:rPr sz="1550">
                <a:solidFill>
                  <a:srgbClr val="F4F6FB"/>
                </a:solidFill>
                <a:latin typeface="Calibri"/>
              </a:rPr>
              <a:t>A mensagem chega com a posição aproximada da criança, e cada envio fica registrado num mapa.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874519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21488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B83C"/>
                </a:solidFill>
                <a:latin typeface="Calibri"/>
              </a:rPr>
              <a:t>HIPO E HIPER, SEPARADOS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560320"/>
            <a:ext cx="35661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4F6FB"/>
                </a:solidFill>
                <a:latin typeface="Calibri"/>
              </a:rPr>
              <a:t>O alerta automático distingue hipoglicemia de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4F6FB"/>
                </a:solidFill>
                <a:latin typeface="Calibri"/>
              </a:rPr>
              <a:t>hiperglicemia, cada um configurável de forma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4F6FB"/>
                </a:solidFill>
                <a:latin typeface="Calibri"/>
              </a:rPr>
              <a:t>independente pelos pais.</a:t>
            </a:r>
          </a:p>
          <a:p>
            <a:pPr algn="l">
              <a:lnSpc>
                <a:spcPct val="130000"/>
              </a:lnSpc>
            </a:pPr>
            <a:endParaRPr sz="1350" b="0" i="0">
              <a:solidFill>
                <a:srgbClr val="F4F6FB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4F6FB"/>
                </a:solidFill>
                <a:latin typeface="Calibri"/>
              </a:rPr>
              <a:t>E só dispara sozinho quando a leitura vem do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4F6FB"/>
                </a:solidFill>
                <a:latin typeface="Calibri"/>
              </a:rPr>
              <a:t>sensor — se foi a criança quem digitou o valor,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4F6FB"/>
                </a:solidFill>
                <a:latin typeface="Calibri"/>
              </a:rPr>
              <a:t>ela já está consciente e o app apenas sugere avisar.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GlicoKids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CFF"/>
                </a:solidFill>
                <a:latin typeface="Calibri"/>
              </a:rPr>
              <a:t>ESTADO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4F6FB"/>
                </a:solidFill>
                <a:latin typeface="Calibri"/>
              </a:rPr>
              <a:t>O que já está construído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381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75687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2B83C"/>
                </a:solidFill>
                <a:latin typeface="Calibri"/>
              </a:rPr>
              <a:t>402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42031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AEB9D1"/>
                </a:solidFill>
                <a:latin typeface="Calibri"/>
              </a:rPr>
              <a:t>testes automatizados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2075687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2B83C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42031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AEB9D1"/>
                </a:solidFill>
                <a:latin typeface="Calibri"/>
              </a:rPr>
              <a:t>camadas de persistência local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2075687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2B83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542031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AEB9D1"/>
                </a:solidFill>
                <a:latin typeface="Calibri"/>
              </a:rPr>
              <a:t>aparelho real validado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1088136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 </a:t>
            </a:r>
            <a:r>
              <a:rPr sz="1500" b="1">
                <a:solidFill>
                  <a:srgbClr val="F4F6FB"/>
                </a:solidFill>
                <a:latin typeface="Calibri"/>
              </a:rPr>
              <a:t>Cálculo de dose validado. </a:t>
            </a:r>
            <a:r>
              <a:rPr sz="1500">
                <a:solidFill>
                  <a:srgbClr val="F4F6FB"/>
                </a:solidFill>
                <a:latin typeface="Calibri"/>
              </a:rPr>
              <a:t>O “Bolus do Herói” aplica a fórmula clínica com correção por glicemia e arredondamento de segurança.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 </a:t>
            </a:r>
            <a:r>
              <a:rPr sz="1500" b="1">
                <a:solidFill>
                  <a:srgbClr val="F4F6FB"/>
                </a:solidFill>
                <a:latin typeface="Calibri"/>
              </a:rPr>
              <a:t>Alerta automático por SMS. </a:t>
            </a:r>
            <a:r>
              <a:rPr sz="1500">
                <a:solidFill>
                  <a:srgbClr val="F4F6FB"/>
                </a:solidFill>
                <a:latin typeface="Calibri"/>
              </a:rPr>
              <a:t>A rede de apoio já recebe o aviso real quando a glicemia sai da faixa, com mapa dos envios.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 </a:t>
            </a:r>
            <a:r>
              <a:rPr sz="1500" b="1">
                <a:solidFill>
                  <a:srgbClr val="F4F6FB"/>
                </a:solidFill>
                <a:latin typeface="Calibri"/>
              </a:rPr>
              <a:t>Busca de alimentos online. </a:t>
            </a:r>
            <a:r>
              <a:rPr sz="1500">
                <a:solidFill>
                  <a:srgbClr val="F4F6FB"/>
                </a:solidFill>
                <a:latin typeface="Calibri"/>
              </a:rPr>
              <a:t>Apoia o registro de carboidratos das refeições cadastradas.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 </a:t>
            </a:r>
            <a:r>
              <a:rPr sz="1500" b="1">
                <a:solidFill>
                  <a:srgbClr val="F4F6FB"/>
                </a:solidFill>
                <a:latin typeface="Calibri"/>
              </a:rPr>
              <a:t>Retorno sonoro configurável. </a:t>
            </a:r>
            <a:r>
              <a:rPr sz="1500">
                <a:solidFill>
                  <a:srgbClr val="F4F6FB"/>
                </a:solidFill>
                <a:latin typeface="Calibri"/>
              </a:rPr>
              <a:t>Sons em três momentos da experiência, com opção de personalização pelo responsável.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 </a:t>
            </a:r>
            <a:r>
              <a:rPr sz="1500" b="1">
                <a:solidFill>
                  <a:srgbClr val="F4F6FB"/>
                </a:solidFill>
                <a:latin typeface="Calibri"/>
              </a:rPr>
              <a:t>Testado no aparelho, não só no simulador. </a:t>
            </a:r>
            <a:r>
              <a:rPr sz="1500">
                <a:solidFill>
                  <a:srgbClr val="F4F6FB"/>
                </a:solidFill>
                <a:latin typeface="Calibri"/>
              </a:rPr>
              <a:t>Os requisitos críticos foram validados em dispositivo real, além da suíte automatizada.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GlicoKids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CFF"/>
                </a:solidFill>
                <a:latin typeface="Calibri"/>
              </a:rPr>
              <a:t>PRIVACIDADE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4F6FB"/>
                </a:solidFill>
                <a:latin typeface="Calibri"/>
              </a:rPr>
              <a:t>Privacidade como parte do desenho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381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5B8CFF"/>
                </a:solidFill>
                <a:latin typeface="Calibri"/>
              </a:rPr>
              <a:t>•  </a:t>
            </a:r>
            <a:r>
              <a:rPr sz="1800" b="1">
                <a:solidFill>
                  <a:srgbClr val="F4F6FB"/>
                </a:solidFill>
                <a:latin typeface="Calibri"/>
              </a:rPr>
              <a:t>Dados ficam no aparelho. </a:t>
            </a:r>
            <a:r>
              <a:rPr sz="1800">
                <a:solidFill>
                  <a:srgbClr val="F4F6FB"/>
                </a:solidFill>
                <a:latin typeface="Calibri"/>
              </a:rPr>
              <a:t>Sem backup em nuvem — decisão de projeto, não limitação técnica.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5B8CFF"/>
                </a:solidFill>
                <a:latin typeface="Calibri"/>
              </a:rPr>
              <a:t>•  </a:t>
            </a:r>
            <a:r>
              <a:rPr sz="1800" b="1">
                <a:solidFill>
                  <a:srgbClr val="F4F6FB"/>
                </a:solidFill>
                <a:latin typeface="Calibri"/>
              </a:rPr>
              <a:t>Mensagens minimizadas. </a:t>
            </a:r>
            <a:r>
              <a:rPr sz="1800">
                <a:solidFill>
                  <a:srgbClr val="F4F6FB"/>
                </a:solidFill>
                <a:latin typeface="Calibri"/>
              </a:rPr>
              <a:t>Alertas por SMS levam só o primeiro nome e a inicial do sobrenome da criança.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5B8CFF"/>
                </a:solidFill>
                <a:latin typeface="Calibri"/>
              </a:rPr>
              <a:t>•  </a:t>
            </a:r>
            <a:r>
              <a:rPr sz="1800" b="1">
                <a:solidFill>
                  <a:srgbClr val="F4F6FB"/>
                </a:solidFill>
                <a:latin typeface="Calibri"/>
              </a:rPr>
              <a:t>Acesso clínico protegido. </a:t>
            </a:r>
            <a:r>
              <a:rPr sz="1800">
                <a:solidFill>
                  <a:srgbClr val="F4F6FB"/>
                </a:solidFill>
                <a:latin typeface="Calibri"/>
              </a:rPr>
              <a:t>A área dos pais fica atrás de um PIN próprio, separado do restante do aplicativo.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12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5312736"/>
            <a:ext cx="10241280" cy="575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 dirty="0" err="1">
                <a:solidFill>
                  <a:srgbClr val="F4F6FB"/>
                </a:solidFill>
                <a:latin typeface="Calibri"/>
              </a:rPr>
              <a:t>Privacidade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F4F6FB"/>
                </a:solidFill>
                <a:latin typeface="Calibri"/>
              </a:rPr>
              <a:t>não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 é um </a:t>
            </a:r>
            <a:r>
              <a:rPr sz="1500" b="0" i="1" dirty="0" err="1">
                <a:solidFill>
                  <a:srgbClr val="F4F6FB"/>
                </a:solidFill>
                <a:latin typeface="Calibri"/>
              </a:rPr>
              <a:t>recurso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 a </a:t>
            </a:r>
            <a:r>
              <a:rPr sz="1500" b="0" i="1" dirty="0" err="1">
                <a:solidFill>
                  <a:srgbClr val="F4F6FB"/>
                </a:solidFill>
                <a:latin typeface="Calibri"/>
              </a:rPr>
              <a:t>mais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 — é </a:t>
            </a:r>
            <a:r>
              <a:rPr sz="1500" b="0" i="1" dirty="0" err="1">
                <a:solidFill>
                  <a:srgbClr val="F4F6FB"/>
                </a:solidFill>
                <a:latin typeface="Calibri"/>
              </a:rPr>
              <a:t>uma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F4F6FB"/>
                </a:solidFill>
                <a:latin typeface="Calibri"/>
              </a:rPr>
              <a:t>escolha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 de </a:t>
            </a:r>
            <a:r>
              <a:rPr sz="1500" b="0" i="1" dirty="0" err="1">
                <a:solidFill>
                  <a:srgbClr val="F4F6FB"/>
                </a:solidFill>
                <a:latin typeface="Calibri"/>
              </a:rPr>
              <a:t>arquitetura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F4F6FB"/>
                </a:solidFill>
                <a:latin typeface="Calibri"/>
              </a:rPr>
              <a:t>que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F4F6FB"/>
                </a:solidFill>
                <a:latin typeface="Calibri"/>
              </a:rPr>
              <a:t>limita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, </a:t>
            </a:r>
            <a:r>
              <a:rPr sz="1500" b="0" i="1" dirty="0" err="1">
                <a:solidFill>
                  <a:srgbClr val="F4F6FB"/>
                </a:solidFill>
                <a:latin typeface="Calibri"/>
              </a:rPr>
              <a:t>por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 design,</a:t>
            </a:r>
            <a:r>
              <a:rPr lang="pt-BR" sz="1500" b="0" i="1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o </a:t>
            </a:r>
            <a:r>
              <a:rPr sz="1500" b="0" i="1" dirty="0" err="1">
                <a:solidFill>
                  <a:srgbClr val="F4F6FB"/>
                </a:solidFill>
                <a:latin typeface="Calibri"/>
              </a:rPr>
              <a:t>que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F4F6FB"/>
                </a:solidFill>
                <a:latin typeface="Calibri"/>
              </a:rPr>
              <a:t>pode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F4F6FB"/>
                </a:solidFill>
                <a:latin typeface="Calibri"/>
              </a:rPr>
              <a:t>vazar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F4F6FB"/>
                </a:solidFill>
                <a:latin typeface="Calibri"/>
              </a:rPr>
              <a:t>mesmo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 se algo der </a:t>
            </a:r>
            <a:r>
              <a:rPr sz="1500" b="0" i="1" dirty="0" err="1">
                <a:solidFill>
                  <a:srgbClr val="F4F6FB"/>
                </a:solidFill>
                <a:latin typeface="Calibri"/>
              </a:rPr>
              <a:t>errado</a:t>
            </a:r>
            <a:r>
              <a:rPr sz="1500" b="0" i="1" dirty="0">
                <a:solidFill>
                  <a:srgbClr val="F4F6FB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GlicoKids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8CFF"/>
                </a:solidFill>
                <a:latin typeface="Calibri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4F6FB"/>
                </a:solidFill>
                <a:latin typeface="Calibri"/>
              </a:rPr>
              <a:t>O futuro: a infraestrutura já existe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3810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456432" cy="292608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2167128"/>
            <a:ext cx="457200" cy="45720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0B12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70632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4F6FB"/>
                </a:solidFill>
                <a:latin typeface="Calibri"/>
              </a:rPr>
              <a:t>Sensor real de glicemia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154680"/>
            <a:ext cx="305409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EB9D1"/>
                </a:solidFill>
                <a:latin typeface="Calibri"/>
              </a:rPr>
              <a:t>O alerta automático já funciona de ponta a ponta; falta plugar a leitura contínua de um sensor de verdade, a cada 5 minutos, em segundo plano.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965960"/>
            <a:ext cx="3456432" cy="292608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53712" y="2167128"/>
            <a:ext cx="457200" cy="45720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0B12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770632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4F6FB"/>
                </a:solidFill>
                <a:latin typeface="Calibri"/>
              </a:rPr>
              <a:t>Carboidrato por foto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154680"/>
            <a:ext cx="305409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EB9D1"/>
                </a:solidFill>
                <a:latin typeface="Calibri"/>
              </a:rPr>
              <a:t>A captura da refeição já está no fluxo; falta a estimativa automática de carboidratos a partir da imagem.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965960"/>
            <a:ext cx="3456432" cy="292608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66176" y="2167128"/>
            <a:ext cx="457200" cy="45720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0B12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770632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4F6FB"/>
                </a:solidFill>
                <a:latin typeface="Calibri"/>
              </a:rPr>
              <a:t>Gamificação por atividade física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3154680"/>
            <a:ext cx="305409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EB9D1"/>
                </a:solidFill>
                <a:latin typeface="Calibri"/>
              </a:rPr>
              <a:t>Recompensar o movimento da criança, não só a rotina clínica — combatendo o sedentarismo junto com o controle glicêmico.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10881360" cy="266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 dirty="0">
                <a:solidFill>
                  <a:srgbClr val="AEB9D1"/>
                </a:solidFill>
                <a:latin typeface="Calibri"/>
              </a:rPr>
              <a:t>Cada </a:t>
            </a:r>
            <a:r>
              <a:rPr sz="1450" b="0" i="0" dirty="0" err="1">
                <a:solidFill>
                  <a:srgbClr val="AEB9D1"/>
                </a:solidFill>
                <a:latin typeface="Calibri"/>
              </a:rPr>
              <a:t>frente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AEB9D1"/>
                </a:solidFill>
                <a:latin typeface="Calibri"/>
              </a:rPr>
              <a:t>aproveita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AEB9D1"/>
                </a:solidFill>
                <a:latin typeface="Calibri"/>
              </a:rPr>
              <a:t>infraestrutura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AEB9D1"/>
                </a:solidFill>
                <a:latin typeface="Calibri"/>
              </a:rPr>
              <a:t>que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AEB9D1"/>
                </a:solidFill>
                <a:latin typeface="Calibri"/>
              </a:rPr>
              <a:t>já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AEB9D1"/>
                </a:solidFill>
                <a:latin typeface="Calibri"/>
              </a:rPr>
              <a:t>está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 no </a:t>
            </a:r>
            <a:r>
              <a:rPr sz="1450" b="0" i="0" dirty="0" err="1">
                <a:solidFill>
                  <a:srgbClr val="AEB9D1"/>
                </a:solidFill>
                <a:latin typeface="Calibri"/>
              </a:rPr>
              <a:t>aplicativo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AEB9D1"/>
                </a:solidFill>
                <a:latin typeface="Calibri"/>
              </a:rPr>
              <a:t>hoje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 — </a:t>
            </a:r>
            <a:r>
              <a:rPr sz="1450" b="0" i="0" dirty="0" err="1">
                <a:solidFill>
                  <a:srgbClr val="AEB9D1"/>
                </a:solidFill>
                <a:latin typeface="Calibri"/>
              </a:rPr>
              <a:t>não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 é </a:t>
            </a:r>
            <a:r>
              <a:rPr sz="1450" b="0" i="0" dirty="0" err="1">
                <a:solidFill>
                  <a:srgbClr val="AEB9D1"/>
                </a:solidFill>
                <a:latin typeface="Calibri"/>
              </a:rPr>
              <a:t>começar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 do zero,</a:t>
            </a:r>
            <a:r>
              <a:rPr lang="pt-BR" sz="145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é </a:t>
            </a:r>
            <a:r>
              <a:rPr sz="1450" b="0" i="0" dirty="0" err="1">
                <a:solidFill>
                  <a:srgbClr val="AEB9D1"/>
                </a:solidFill>
                <a:latin typeface="Calibri"/>
              </a:rPr>
              <a:t>conectar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 a </a:t>
            </a:r>
            <a:r>
              <a:rPr sz="1450" b="0" i="0" dirty="0" err="1">
                <a:solidFill>
                  <a:srgbClr val="AEB9D1"/>
                </a:solidFill>
                <a:latin typeface="Calibri"/>
              </a:rPr>
              <a:t>última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AEB9D1"/>
                </a:solidFill>
                <a:latin typeface="Calibri"/>
              </a:rPr>
              <a:t>peça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 de </a:t>
            </a:r>
            <a:r>
              <a:rPr sz="1450" b="0" i="0" dirty="0" err="1">
                <a:solidFill>
                  <a:srgbClr val="AEB9D1"/>
                </a:solidFill>
                <a:latin typeface="Calibri"/>
              </a:rPr>
              <a:t>cada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AEB9D1"/>
                </a:solidFill>
                <a:latin typeface="Calibri"/>
              </a:rPr>
              <a:t>funcionalidade</a:t>
            </a:r>
            <a:r>
              <a:rPr sz="1450" b="0" i="0" dirty="0">
                <a:solidFill>
                  <a:srgbClr val="AEB9D1"/>
                </a:solidFill>
                <a:latin typeface="Calibr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GlicoKids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B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9601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i="0" dirty="0">
                <a:solidFill>
                  <a:srgbClr val="F2B83C"/>
                </a:solidFill>
                <a:latin typeface="Calibri"/>
              </a:rPr>
              <a:t>Foco da aplicação:</a:t>
            </a:r>
            <a:endParaRPr sz="1400" b="1" i="0" dirty="0">
              <a:solidFill>
                <a:srgbClr val="F2B83C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6384" y="25146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4F6FB"/>
                </a:solidFill>
                <a:latin typeface="Calibri"/>
              </a:rPr>
              <a:t>GlicoKids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9966960" cy="729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 dirty="0">
                <a:solidFill>
                  <a:srgbClr val="AEB9D1"/>
                </a:solidFill>
                <a:latin typeface="Calibri"/>
              </a:rPr>
              <a:t>A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tecnologia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 para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transformar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uma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rotina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clínica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em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uma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 jornada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que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 a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criança</a:t>
            </a:r>
            <a:r>
              <a:rPr lang="pt-BR" sz="1900" dirty="0">
                <a:solidFill>
                  <a:srgbClr val="AEB9D1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quer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viver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 — com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os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pais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 no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controle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, e a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criança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 no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centro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 da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própria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 </a:t>
            </a:r>
            <a:r>
              <a:rPr sz="1900" b="0" i="0" dirty="0" err="1">
                <a:solidFill>
                  <a:srgbClr val="AEB9D1"/>
                </a:solidFill>
                <a:latin typeface="Calibri"/>
              </a:rPr>
              <a:t>história</a:t>
            </a:r>
            <a:r>
              <a:rPr sz="1900" b="0" i="0" dirty="0">
                <a:solidFill>
                  <a:srgbClr val="AEB9D1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074920"/>
            <a:ext cx="640080" cy="3175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4F6FB"/>
                </a:solidFill>
                <a:latin typeface="Calibri"/>
              </a:rPr>
              <a:t>Obrigado.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GlicoKids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EB9D1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1082</Words>
  <Application>Microsoft Office PowerPoint</Application>
  <PresentationFormat>Widescreen</PresentationFormat>
  <Paragraphs>122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GlicoKids — Apresentação</dc:title>
  <dc:subject>GlicoKids</dc:subject>
  <dc:creator>Luiz Augusto Melo</dc:creator>
  <cp:keywords/>
  <dc:description/>
  <cp:lastModifiedBy>Luiz Augusto guto</cp:lastModifiedBy>
  <cp:revision>2</cp:revision>
  <dcterms:created xsi:type="dcterms:W3CDTF">2026-08-23T00:00:00Z</dcterms:created>
  <dcterms:modified xsi:type="dcterms:W3CDTF">2026-08-24T01:41:02Z</dcterms:modified>
  <cp:category/>
</cp:coreProperties>
</file>